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E293B"/>
                </a:solidFill>
                <a:latin typeface="Arial"/>
              </a:rPr>
              <a:t>Sales by Segment ($M)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Gross Sales (M)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Government</c:v>
                  </c:pt>
                  <c:pt idx="1">
                    <c:v>Small Business</c:v>
                  </c:pt>
                  <c:pt idx="2">
                    <c:v>Enterprise</c:v>
                  </c:pt>
                  <c:pt idx="3">
                    <c:v>Midmarket</c:v>
                  </c:pt>
                  <c:pt idx="4">
                    <c:v>Channel Partners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52.5</c:v>
                </c:pt>
                <c:pt idx="1">
                  <c:v>42.4</c:v>
                </c:pt>
                <c:pt idx="2">
                  <c:v>19.6</c:v>
                </c:pt>
                <c:pt idx="3">
                  <c:v>5.6</c:v>
                </c:pt>
                <c:pt idx="4">
                  <c:v>6.7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008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Performance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7E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36118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 Internship  ·  Task 4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41148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Shravani Umaji Jadhav  ·  Power BI  ·  Financial Sample Dataset  ·  2013–2014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&amp; Tools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206240" cy="1554480"/>
          </a:xfrm>
          <a:prstGeom prst="rect">
            <a:avLst/>
          </a:prstGeom>
          <a:solidFill>
            <a:srgbClr val="E8F4F8"/>
          </a:solidFill>
          <a:ln w="12700">
            <a:solidFill>
              <a:srgbClr val="C8E6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97280"/>
            <a:ext cx="64008" cy="1554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887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 interactive sales dashboard for business stakeholders to support data-driven decisions.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097280"/>
            <a:ext cx="4206240" cy="1554480"/>
          </a:xfrm>
          <a:prstGeom prst="rect">
            <a:avLst/>
          </a:prstGeom>
          <a:solidFill>
            <a:srgbClr val="E8F4F8"/>
          </a:solidFill>
          <a:ln w="12700">
            <a:solidFill>
              <a:srgbClr val="C8E6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1097280"/>
            <a:ext cx="64008" cy="1554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1887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Used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46320" y="155448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Desktop — free, Windows-based BI tool by Microsoft for building interactive dashboards.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2926080"/>
            <a:ext cx="4206240" cy="1554480"/>
          </a:xfrm>
          <a:prstGeom prst="rect">
            <a:avLst/>
          </a:prstGeom>
          <a:solidFill>
            <a:srgbClr val="E8F4F8"/>
          </a:solidFill>
          <a:ln w="12700">
            <a:solidFill>
              <a:srgbClr val="C8E6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926080"/>
            <a:ext cx="64008" cy="1554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0175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338328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Sample dataset from Kaggle — 700 rows covering Sales, Profit, Segments and Countries.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2926080"/>
            <a:ext cx="4206240" cy="1554480"/>
          </a:xfrm>
          <a:prstGeom prst="rect">
            <a:avLst/>
          </a:prstGeom>
          <a:solidFill>
            <a:srgbClr val="E8F4F8"/>
          </a:solidFill>
          <a:ln w="12700">
            <a:solidFill>
              <a:srgbClr val="C8E6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3440" y="2926080"/>
            <a:ext cx="64008" cy="1554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30175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46320" y="338328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Power BI Dashboard (.pbix) + PowerPoint summary presentation.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828800" cy="12801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700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Rows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60320" y="1097280"/>
            <a:ext cx="1828800" cy="12801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0" y="11887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560320" y="18288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097280"/>
            <a:ext cx="1828800" cy="12801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1887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663440" y="18288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766560" y="1097280"/>
            <a:ext cx="1828800" cy="12801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66560" y="11887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766560" y="18288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(2013–14)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2651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Columns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7200" y="3063240"/>
            <a:ext cx="137160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06324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011680" y="3099816"/>
            <a:ext cx="6675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Government, Small Business, Enterprise, Midmarket, Channel Partners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538728"/>
            <a:ext cx="137160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53872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011680" y="3575304"/>
            <a:ext cx="6675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USA, Canada, France, Germany, Mexico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4014216"/>
            <a:ext cx="137160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01421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011680" y="4050792"/>
            <a:ext cx="6675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Sales, Profit, Units Sold, Sale Price, Discounts, COGS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4489704"/>
            <a:ext cx="137160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489704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011680" y="4526280"/>
            <a:ext cx="6675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data across 2013 and 2014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Summary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1920240" cy="2286000"/>
          </a:xfrm>
          <a:prstGeom prst="rect">
            <a:avLst/>
          </a:prstGeom>
          <a:solidFill>
            <a:srgbClr val="E8F4F8"/>
          </a:solidFill>
          <a:ln w="12700">
            <a:solidFill>
              <a:srgbClr val="C8E6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97280"/>
            <a:ext cx="1920240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32588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$127.93M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74320" y="21488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Gross Sales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" y="26060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2013 &amp; 2014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23160" y="1097280"/>
            <a:ext cx="1920240" cy="2286000"/>
          </a:xfrm>
          <a:prstGeom prst="rect">
            <a:avLst/>
          </a:prstGeom>
          <a:solidFill>
            <a:srgbClr val="E8F4F8"/>
          </a:solidFill>
          <a:ln w="12700">
            <a:solidFill>
              <a:srgbClr val="C8E6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23160" y="1097280"/>
            <a:ext cx="192024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23160" y="132588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$16.89M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423160" y="21488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423160" y="26060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costs &amp; discounts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0" y="1097280"/>
            <a:ext cx="1920240" cy="2286000"/>
          </a:xfrm>
          <a:prstGeom prst="rect">
            <a:avLst/>
          </a:prstGeom>
          <a:solidFill>
            <a:srgbClr val="E8F4F8"/>
          </a:solidFill>
          <a:ln w="12700">
            <a:solidFill>
              <a:srgbClr val="C8E6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0" y="1097280"/>
            <a:ext cx="1920240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0" y="132588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1,001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572000" y="21488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Sold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0" y="26060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segments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720840" y="1097280"/>
            <a:ext cx="1920240" cy="2286000"/>
          </a:xfrm>
          <a:prstGeom prst="rect">
            <a:avLst/>
          </a:prstGeom>
          <a:solidFill>
            <a:srgbClr val="E8F4F8"/>
          </a:solidFill>
          <a:ln w="12700">
            <a:solidFill>
              <a:srgbClr val="C8E6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20840" y="1097280"/>
            <a:ext cx="1920240" cy="1097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20840" y="132588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13.2%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6720840" y="21488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720840" y="26060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/ Gross Sales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3611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Data filtered using Year slicer in Power BI. Click 2013 or 2014 to see individual year performance.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Screenshot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05840"/>
            <a:ext cx="8595360" cy="3749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48006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Shravani Umaji Jadhav  ·  Power BI Desktop  ·  Financial Sample Dataset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Features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160520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51560"/>
            <a:ext cx="50292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51560"/>
            <a:ext cx="502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112471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1472184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 showing Total Gross Sales, Profit, and Units Sold at a glance.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051560"/>
            <a:ext cx="4160520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1051560"/>
            <a:ext cx="50292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051560"/>
            <a:ext cx="502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257800" y="112471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Chart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257800" y="1472184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Sales &amp; Profit trend across 12 months to identify seasonal patterns.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286000"/>
            <a:ext cx="4160520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286000"/>
            <a:ext cx="50292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286000"/>
            <a:ext cx="502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68680" y="235915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68680" y="2706624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bar chart showing Gross Sales by Segment.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2286000"/>
            <a:ext cx="4160520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2286000"/>
            <a:ext cx="50292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2286000"/>
            <a:ext cx="502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257800" y="235915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Donut Chart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257800" y="2706624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distribution by Country (USA, Canada, France, Germany, Mexico).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3520440"/>
            <a:ext cx="4160520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3520440"/>
            <a:ext cx="50292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3520440"/>
            <a:ext cx="502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68680" y="359359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Slicer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68680" y="3941064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filter to switch between 2013 and 2014 — all visuals update instantly.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63440" y="3520440"/>
            <a:ext cx="4160520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63440" y="3520440"/>
            <a:ext cx="50292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63440" y="3520440"/>
            <a:ext cx="502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257800" y="359359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Theme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257800" y="3941064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professional color theme applied across all charts and visuals.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754880" y="1005840"/>
          <a:ext cx="411480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274320" y="1097280"/>
            <a:ext cx="365760" cy="365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7240" y="111556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leads all segments with ~$52.5M in gross sales.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74320" y="1783080"/>
            <a:ext cx="365760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180136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peak in Oct–Nov, showing strong seasonal pattern.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74320" y="2468880"/>
            <a:ext cx="365760" cy="365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248716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accounts for the largest share of country-wise sales.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74320" y="3154680"/>
            <a:ext cx="365760" cy="36576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7240" y="317296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 showed higher sales than 2013 across all segments.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274320" y="3840480"/>
            <a:ext cx="365760" cy="3657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77240" y="385876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Partners and Midmarket have the lowest sales volume.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Q&amp;A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160520" cy="1691640"/>
          </a:xfrm>
          <a:prstGeom prst="rect">
            <a:avLst/>
          </a:prstGeom>
          <a:solidFill>
            <a:srgbClr val="E8F4F8"/>
          </a:solidFill>
          <a:ln w="12700">
            <a:solidFill>
              <a:srgbClr val="C8E6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51560"/>
            <a:ext cx="416052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97280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KPI?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581912"/>
            <a:ext cx="3977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measurable value showing how effectively a business achieves objectives. E.g. Sales, Profit, Growth.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051560"/>
            <a:ext cx="4160520" cy="1691640"/>
          </a:xfrm>
          <a:prstGeom prst="rect">
            <a:avLst/>
          </a:prstGeom>
          <a:solidFill>
            <a:srgbClr val="E8F4F8"/>
          </a:solidFill>
          <a:ln w="12700">
            <a:solidFill>
              <a:srgbClr val="C8E6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1051560"/>
            <a:ext cx="416052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1097280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slicers?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54880" y="1581912"/>
            <a:ext cx="3977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filter controls in Power BI that update all connected charts when clicked.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971800"/>
            <a:ext cx="4160520" cy="1691640"/>
          </a:xfrm>
          <a:prstGeom prst="rect">
            <a:avLst/>
          </a:prstGeom>
          <a:solidFill>
            <a:srgbClr val="E8F4F8"/>
          </a:solidFill>
          <a:ln w="12700">
            <a:solidFill>
              <a:srgbClr val="C8E6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971800"/>
            <a:ext cx="416052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017520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vs Tableau?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3502152"/>
            <a:ext cx="3977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is free &amp; integrates well with Microsoft. Tableau is more powerful for exploration but paid.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2971800"/>
            <a:ext cx="4160520" cy="1691640"/>
          </a:xfrm>
          <a:prstGeom prst="rect">
            <a:avLst/>
          </a:prstGeom>
          <a:solidFill>
            <a:srgbClr val="E8F4F8"/>
          </a:solidFill>
          <a:ln w="12700">
            <a:solidFill>
              <a:srgbClr val="C8E6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3440" y="2971800"/>
            <a:ext cx="416052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3017520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handle large data?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54880" y="3502152"/>
            <a:ext cx="3977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aggregations, DirectQuery, filter at source, and incremental refresh for large datasets.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00400"/>
            <a:ext cx="9144000" cy="19431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4864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E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Shravani Umaji Jadhav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24231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 Internship  ·  Task 4  ·  Sales Performance Dashboard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33375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Power BI Desktop    |    Dataset: Kaggle Financial Sample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 Performance Dashboard</dc:title>
  <dc:subject>PptxGenJS Presentation</dc:subject>
  <dc:creator>PptxGenJS</dc:creator>
  <cp:lastModifiedBy>PptxGenJS</cp:lastModifiedBy>
  <cp:revision>1</cp:revision>
  <dcterms:created xsi:type="dcterms:W3CDTF">2026-06-04T10:37:09Z</dcterms:created>
  <dcterms:modified xsi:type="dcterms:W3CDTF">2026-06-04T10:37:09Z</dcterms:modified>
</cp:coreProperties>
</file>